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52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sessions/optimistic-hopeful-sagan/mnt/outputs/costing_deck/illustrations/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914400"/>
            <a:ext cx="493776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friendly beginner's guide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3383280"/>
            <a:ext cx="566928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25400">
            <a:solidFill>
              <a:srgbClr val="1F254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352044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get:
</a:t>
            </a:r>
            <a:r>
              <a:rPr lang="en-US" sz="14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jargon. Lots of doodles. Real-world examples — pizza, coffee, AC repair.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for someone who has never seen a costing slide in their life.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9E795"/>
                </a:solidFill>
              </a:rPr>
              <a:t>★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85216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ECDC4"/>
                </a:solidFill>
              </a:rPr>
              <a:t>✦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21440" y="457200"/>
            <a:ext cx="164592" cy="164592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309360"/>
            <a:ext cx="146304" cy="146304"/>
          </a:xfrm>
          <a:prstGeom prst="ellipse">
            <a:avLst/>
          </a:prstGeom>
          <a:solidFill>
            <a:srgbClr val="4ECDC4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644652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3383280"/>
            <a:ext cx="91440" cy="9144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/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learn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45920" y="16916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cost, really?
</a:t>
            </a:r>
            <a:r>
              <a:rPr lang="en-US" sz="14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 the 3 ingredients every cost is made of.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2606040"/>
            <a:ext cx="640080" cy="640080"/>
          </a:xfrm>
          <a:prstGeom prst="ellipse">
            <a:avLst/>
          </a:prstGeom>
          <a:solidFill>
            <a:srgbClr val="F9E795"/>
          </a:solidFill>
          <a:ln w="2540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45920" y="2560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vs Indirect
</a:t>
            </a:r>
            <a:r>
              <a:rPr lang="en-US" sz="14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coffee shop trick to remember the difference.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20"/>
            <a:ext cx="640080" cy="640080"/>
          </a:xfrm>
          <a:prstGeom prst="ellipse">
            <a:avLst/>
          </a:prstGeom>
          <a:solidFill>
            <a:srgbClr val="4ECDC4"/>
          </a:solidFill>
          <a:ln w="2540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45920" y="34290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 formula
</a:t>
            </a:r>
            <a:r>
              <a:rPr lang="en-US" sz="14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= Rate × Usage. Yes, that's it. Really.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2F3C7E"/>
          </a:solidFill>
          <a:ln w="2540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45920" y="42976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examples
</a:t>
            </a:r>
            <a:r>
              <a:rPr lang="en-US" sz="14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Steel sheets, laser cutters, AC repair bills.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1520" y="5212080"/>
            <a:ext cx="640080" cy="640080"/>
          </a:xfrm>
          <a:prstGeom prst="ellipse">
            <a:avLst/>
          </a:prstGeom>
          <a:solidFill>
            <a:srgbClr val="7BC47F"/>
          </a:solidFill>
          <a:ln w="2540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645920" y="51663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saves money
</a:t>
            </a:r>
            <a:r>
              <a:rPr lang="en-US" sz="14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breaking cost down helps you negotiate.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21440" y="457200"/>
            <a:ext cx="164592" cy="164592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309360"/>
            <a:ext cx="146304" cy="146304"/>
          </a:xfrm>
          <a:prstGeom prst="ellipse">
            <a:avLst/>
          </a:prstGeom>
          <a:solidFill>
            <a:srgbClr val="4ECDC4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644652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3383280"/>
            <a:ext cx="91440" cy="9144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even is "cost"?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40080" y="1737360"/>
            <a:ext cx="566928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1F254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196596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Imagine making a pizza.
</a:t>
            </a:r>
            <a:r>
              <a:rPr lang="en-US" sz="18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is just </a:t>
            </a:r>
            <a:r>
              <a:rPr lang="en-US" sz="18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 spend </a:t>
            </a:r>
            <a:r>
              <a:rPr lang="en-US" sz="18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make it.
</a:t>
            </a:r>
            <a:r>
              <a:rPr lang="en-US" sz="16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dough, the cheese, the gas for the oven, the chef's time, the rent for the kitchen, and the little profit the owner keeps.
</a:t>
            </a:r>
            <a:r>
              <a:rPr lang="en-US" sz="1600" i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it all up → </a:t>
            </a:r>
            <a:r>
              <a:rPr lang="en-US" sz="16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the cost.</a:t>
            </a:r>
            <a:endParaRPr lang="en-US" sz="2200" dirty="0"/>
          </a:p>
        </p:txBody>
      </p:sp>
      <p:pic>
        <p:nvPicPr>
          <p:cNvPr id="13" name="Image 0" descr="/sessions/optimistic-hopeful-sagan/mnt/outputs/costing_deck/illustrations/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828800"/>
            <a:ext cx="4389120" cy="43891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680960" y="1371600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F9E795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68096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≠ Price you pay. Cost = what it took to make 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21440" y="457200"/>
            <a:ext cx="164592" cy="164592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309360"/>
            <a:ext cx="146304" cy="146304"/>
          </a:xfrm>
          <a:prstGeom prst="ellipse">
            <a:avLst/>
          </a:prstGeom>
          <a:solidFill>
            <a:srgbClr val="4ECDC4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644652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3383280"/>
            <a:ext cx="91440" cy="9144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cost has 3 ingredients</a:t>
            </a:r>
            <a:endParaRPr lang="en-US" sz="3600" dirty="0"/>
          </a:p>
        </p:txBody>
      </p:sp>
      <p:pic>
        <p:nvPicPr>
          <p:cNvPr id="11" name="Image 0" descr="/sessions/optimistic-hopeful-sagan/mnt/outputs/costing_deck/illustrations/rec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10332720" cy="32918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We'll meet each one next.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Whether it's a t-shirt, a car, or a haircut — these three are always there.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21440" y="457200"/>
            <a:ext cx="164592" cy="164592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309360"/>
            <a:ext cx="146304" cy="146304"/>
          </a:xfrm>
          <a:prstGeom prst="ellipse">
            <a:avLst/>
          </a:prstGeom>
          <a:solidFill>
            <a:srgbClr val="4ECDC4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644652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3383280"/>
            <a:ext cx="91440" cy="9144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STUFF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Ingredient 1 — Materials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40080" y="1737360"/>
            <a:ext cx="164592" cy="43891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4672" y="1737360"/>
            <a:ext cx="502920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54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187452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physical stuff that goes INTO the thing.
</a:t>
            </a: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Pizza: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dough, cheese, sauce, toppings, the box
</a:t>
            </a:r>
            <a:endParaRPr lang="en-US" sz="18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Car: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steel, glass, paint, tires, bolts
</a:t>
            </a:r>
            <a:endParaRPr lang="en-US" sz="18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T-shirt: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fabric, thread, the printed logo, tag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8EE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82512" y="2103120"/>
            <a:ext cx="502920" cy="50292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82512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95160" y="199339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Materials
</a:t>
            </a:r>
            <a:r>
              <a:rPr lang="en-US" sz="11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main stuff (steel for a car)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06840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8EE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71432" y="2103120"/>
            <a:ext cx="502920" cy="502920"/>
          </a:xfrm>
          <a:prstGeom prst="ellipse">
            <a:avLst/>
          </a:prstGeom>
          <a:solidFill>
            <a:srgbClr val="4ECDC4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71432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784080" y="199339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Purchased Parts
</a:t>
            </a:r>
            <a:r>
              <a:rPr lang="en-US" sz="11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Bought ready-made (bolts, motors)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31546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8EE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82512" y="3429000"/>
            <a:ext cx="502920" cy="502920"/>
          </a:xfrm>
          <a:prstGeom prst="ellipse">
            <a:avLst/>
          </a:prstGeom>
          <a:solidFill>
            <a:srgbClr val="2F3C7E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82512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95160" y="331927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Outsourced Services
</a:t>
            </a:r>
            <a:r>
              <a:rPr lang="en-US" sz="11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done by someone else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006840" y="31546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8EE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71432" y="3429000"/>
            <a:ext cx="502920" cy="502920"/>
          </a:xfrm>
          <a:prstGeom prst="ellipse">
            <a:avLst/>
          </a:prstGeom>
          <a:solidFill>
            <a:srgbClr val="7BC47F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71432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84080" y="331927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Packaging
</a:t>
            </a:r>
            <a:r>
              <a:rPr lang="en-US" sz="11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box, foam, plastic wrap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17920" y="461772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9E795"/>
          </a:solidFill>
          <a:ln w="2540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09360" y="4709160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can hold it, ship it, or store it — it's a material.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21440" y="457200"/>
            <a:ext cx="164592" cy="164592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309360"/>
            <a:ext cx="146304" cy="146304"/>
          </a:xfrm>
          <a:prstGeom prst="ellipse">
            <a:avLst/>
          </a:prstGeom>
          <a:solidFill>
            <a:srgbClr val="4ECDC4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644652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3383280"/>
            <a:ext cx="91440" cy="9144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Ingredient 2 — Process cost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40080" y="1737360"/>
            <a:ext cx="164592" cy="4389120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4672" y="1737360"/>
            <a:ext cx="502920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54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187452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TURNING materials into the finished thing.
</a:t>
            </a:r>
            <a:r>
              <a:rPr lang="en-US" sz="16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parts:
</a:t>
            </a:r>
            <a:r>
              <a:rPr lang="en-US" sz="15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Direct Labor — </a:t>
            </a:r>
            <a:r>
              <a:rPr lang="en-US" sz="15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person actually making it.
</a:t>
            </a:r>
            <a:r>
              <a:rPr lang="en-US" sz="13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Wages + benefits + paid leave.
</a:t>
            </a:r>
            <a:r>
              <a:rPr lang="en-US" sz="15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Equipment Burden — </a:t>
            </a:r>
            <a:r>
              <a:rPr lang="en-US" sz="15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machine running.
</a:t>
            </a:r>
            <a:r>
              <a:rPr lang="en-US" sz="13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Electricity, maintenance, tooling, rent, insurance.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544068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1F254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0" y="2468880"/>
            <a:ext cx="640080" cy="64008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78040" y="24688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Pizza oven baking
</a:t>
            </a:r>
            <a:r>
              <a:rPr lang="en-US" sz="12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 + chef's time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3383280"/>
            <a:ext cx="640080" cy="640080"/>
          </a:xfrm>
          <a:prstGeom prst="ellipse">
            <a:avLst/>
          </a:prstGeom>
          <a:solidFill>
            <a:srgbClr val="F9E795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78040" y="33832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Laser cutting steel
</a:t>
            </a:r>
            <a:r>
              <a:rPr lang="en-US" sz="12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+ operator running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4297680"/>
            <a:ext cx="640080" cy="640080"/>
          </a:xfrm>
          <a:prstGeom prst="ellipse">
            <a:avLst/>
          </a:prstGeom>
          <a:solidFill>
            <a:srgbClr val="2F3C7E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78040" y="4297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Painting a car
</a:t>
            </a:r>
            <a:r>
              <a:rPr lang="en-US" sz="12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Paint booth + sprayer's hours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5212080"/>
            <a:ext cx="640080" cy="640080"/>
          </a:xfrm>
          <a:prstGeom prst="ellipse">
            <a:avLst/>
          </a:prstGeom>
          <a:solidFill>
            <a:srgbClr val="7BC47F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78040" y="52120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Stitching a shirt
</a:t>
            </a:r>
            <a:r>
              <a:rPr lang="en-US" sz="12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Sewing machine + tailor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21440" y="457200"/>
            <a:ext cx="164592" cy="164592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309360"/>
            <a:ext cx="146304" cy="146304"/>
          </a:xfrm>
          <a:prstGeom prst="ellipse">
            <a:avLst/>
          </a:prstGeom>
          <a:solidFill>
            <a:srgbClr val="4ECDC4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644652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3383280"/>
            <a:ext cx="91440" cy="9144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/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OVERHEAD &amp; MARGIN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Ingredient 3 — SG&amp;A + Profit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40080" y="1737360"/>
            <a:ext cx="164592" cy="4389120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4672" y="1737360"/>
            <a:ext cx="566928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54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187452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SG&amp;A = </a:t>
            </a:r>
            <a:r>
              <a:rPr lang="en-US" sz="17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Selling, General &amp; Administrative.
</a:t>
            </a:r>
            <a:r>
              <a:rPr lang="en-US" sz="15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all the people and bills that keep the company alive — but they aren't making the product themselves.
</a:t>
            </a:r>
            <a:r>
              <a:rPr lang="en-US" sz="15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Think: </a:t>
            </a:r>
            <a:r>
              <a:rPr lang="en-US" sz="15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CEO, finance team, sales, legal, advertising, HR.
</a:t>
            </a: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= </a:t>
            </a:r>
            <a:r>
              <a:rPr lang="en-US" sz="15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company keeps after covering everything else. Usually </a:t>
            </a:r>
            <a:r>
              <a:rPr lang="en-US" sz="15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5–25%</a:t>
            </a:r>
            <a:r>
              <a:rPr lang="en-US" sz="15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manufacturing.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675120" y="1737360"/>
            <a:ext cx="4983480" cy="4389120"/>
          </a:xfrm>
          <a:prstGeom prst="roundRect">
            <a:avLst>
              <a:gd name="adj" fmla="val 3125"/>
            </a:avLst>
          </a:prstGeom>
          <a:solidFill>
            <a:srgbClr val="2F3C7E"/>
          </a:solidFill>
          <a:ln w="25400">
            <a:solidFill>
              <a:srgbClr val="1F254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counts as SG&amp;A?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040880" y="2560320"/>
            <a:ext cx="201168" cy="201168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60920" y="2423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Executives &amp; finance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40880" y="3127248"/>
            <a:ext cx="201168" cy="201168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60920" y="29900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advertising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40880" y="3694176"/>
            <a:ext cx="201168" cy="201168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60920" y="35570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team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040880" y="4261104"/>
            <a:ext cx="201168" cy="201168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60920" y="41239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&amp; IT support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040880" y="4828032"/>
            <a:ext cx="201168" cy="201168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60920" y="4690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Office rent &amp; utilities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58000" y="5486400"/>
            <a:ext cx="4572000" cy="18288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0" y="5577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don't make the pizza — but the kitchen can't run without them.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21440" y="457200"/>
            <a:ext cx="164592" cy="164592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309360"/>
            <a:ext cx="146304" cy="146304"/>
          </a:xfrm>
          <a:prstGeom prst="ellipse">
            <a:avLst/>
          </a:prstGeom>
          <a:solidFill>
            <a:srgbClr val="4ECDC4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644652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3383280"/>
            <a:ext cx="91440" cy="9144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/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flavors of cost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3 ingredients apply — whether you're making a thing or doing a thing.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1920240"/>
            <a:ext cx="544068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50800">
            <a:solidFill>
              <a:srgbClr val="F96167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Manufacturing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make a physical thing.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 =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3429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Process (Labor + Machine)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SG&amp;A + Profit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512064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FFF8EE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5212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Examples:
</a:t>
            </a:r>
            <a:r>
              <a:rPr lang="en-US" sz="14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 parts  •  phone case  •  sneakers  •  bread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1920240"/>
            <a:ext cx="544068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4652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do something for someone.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 =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37960" y="3429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Labor (your time)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Consumables (parts you use)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Overhead (tools, vehicle, SG&amp;A, profit)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46520" y="512064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FFF8EE"/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0" y="5212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Examples:
</a:t>
            </a:r>
            <a:r>
              <a:rPr lang="en-US" sz="14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haircut  •  AC repair  •  cleaning  •  delivery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21440" y="457200"/>
            <a:ext cx="164592" cy="164592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309360"/>
            <a:ext cx="146304" cy="146304"/>
          </a:xfrm>
          <a:prstGeom prst="ellipse">
            <a:avLst/>
          </a:prstGeom>
          <a:solidFill>
            <a:srgbClr val="4ECDC4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644652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3383280"/>
            <a:ext cx="91440" cy="9144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/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COFFEE-SHOP TRICK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vs Indirect</a:t>
            </a:r>
            <a:endParaRPr lang="en-US" sz="3600" dirty="0"/>
          </a:p>
        </p:txBody>
      </p:sp>
      <p:pic>
        <p:nvPicPr>
          <p:cNvPr id="11" name="Image 0" descr="/sessions/optimistic-hopeful-sagan/mnt/outputs/costing_deck/illustrations/coffees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17320"/>
            <a:ext cx="9418320" cy="31089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0080" y="466344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38100">
            <a:solidFill>
              <a:srgbClr val="F96167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4800600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— </a:t>
            </a:r>
            <a:r>
              <a:rPr lang="en-US" sz="15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ends up IN the product.
</a:t>
            </a:r>
            <a:r>
              <a:rPr lang="en-US" sz="13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 beans go INTO the latte. Steel goes INTO the car door.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63640" y="4663440"/>
            <a:ext cx="53949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38100">
            <a:solidFill>
              <a:srgbClr val="2F3C7E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46520" y="48006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INDIRECT — </a:t>
            </a:r>
            <a:r>
              <a:rPr lang="en-US" sz="15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helps make it happen, but isn't IN it.
</a:t>
            </a:r>
            <a:r>
              <a:rPr lang="en-US" sz="13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shop's rent, electricity, wifi, the manager's salary.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ONLY FORMULA YOU NEED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= Rate × Usage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things multiplied. That's the whole game.</a:t>
            </a:r>
            <a:endParaRPr lang="en-US" sz="1600" dirty="0"/>
          </a:p>
        </p:txBody>
      </p:sp>
      <p:pic>
        <p:nvPicPr>
          <p:cNvPr id="7" name="Image 0" descr="/sessions/optimistic-hopeful-sagan/mnt/outputs/costing_deck/illustrations/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68880"/>
            <a:ext cx="1033272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71600" y="576072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F9E79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71600" y="57607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for ANYTHING — pizza, plumbing, gasoline, hotels, haircuts.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21440" y="457200"/>
            <a:ext cx="164592" cy="164592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309360"/>
            <a:ext cx="146304" cy="146304"/>
          </a:xfrm>
          <a:prstGeom prst="ellipse">
            <a:avLst/>
          </a:prstGeom>
          <a:solidFill>
            <a:srgbClr val="4ECDC4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644652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3383280"/>
            <a:ext cx="91440" cy="9144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/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formula in action — Materials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is the price per unit. USAGE is how many units you used.</a:t>
            </a:r>
            <a:endParaRPr lang="en-US" sz="1400" dirty="0"/>
          </a:p>
        </p:txBody>
      </p:sp>
      <p:pic>
        <p:nvPicPr>
          <p:cNvPr id="12" name="Image 0" descr="/sessions/optimistic-hopeful-sagan/mnt/outputs/costing_deck/illustrations/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920240"/>
            <a:ext cx="9144000" cy="33832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77240" y="5486400"/>
            <a:ext cx="3657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55595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Steel sheet
</a:t>
            </a:r>
            <a:r>
              <a:rPr lang="en-US" sz="12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$0.50 / lb × 2.5 lbs  =  </a:t>
            </a:r>
            <a:r>
              <a:rPr lang="en-US" sz="15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$1.25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99432" y="5486400"/>
            <a:ext cx="3657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36592" y="55595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Bolts
</a:t>
            </a:r>
            <a:r>
              <a:rPr lang="en-US" sz="12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$0.20 / piece × 2 pieces  =  </a:t>
            </a:r>
            <a:r>
              <a:rPr lang="en-US" sz="15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$0.40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421624" y="5486400"/>
            <a:ext cx="3657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558784" y="55595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Paint
</a:t>
            </a:r>
            <a:r>
              <a:rPr lang="en-US" sz="1200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 / lb × 0.3 lbs  =  </a:t>
            </a:r>
            <a:r>
              <a:rPr lang="en-US" sz="15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$3.00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21440" y="457200"/>
            <a:ext cx="164592" cy="164592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309360"/>
            <a:ext cx="146304" cy="146304"/>
          </a:xfrm>
          <a:prstGeom prst="ellipse">
            <a:avLst/>
          </a:prstGeom>
          <a:solidFill>
            <a:srgbClr val="4ECDC4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644652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3383280"/>
            <a:ext cx="91440" cy="9144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formula in action — Process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formula. The RATE is per hour. USAGE is how long you ran the machine.</a:t>
            </a:r>
            <a:endParaRPr lang="en-US" sz="1400" dirty="0"/>
          </a:p>
        </p:txBody>
      </p:sp>
      <p:pic>
        <p:nvPicPr>
          <p:cNvPr id="12" name="Image 0" descr="/sessions/optimistic-hopeful-sagan/mnt/outputs/costing_deck/illustrations/la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10332720" cy="3657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371600" y="576072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4ECDC4"/>
          </a:solidFill>
          <a:ln w="2540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71600" y="57607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Trick: convert seconds → hours, then multiply by the hourly rate.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21440" y="457200"/>
            <a:ext cx="164592" cy="164592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309360"/>
            <a:ext cx="146304" cy="146304"/>
          </a:xfrm>
          <a:prstGeom prst="ellipse">
            <a:avLst/>
          </a:prstGeom>
          <a:solidFill>
            <a:srgbClr val="4ECDC4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644652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3383280"/>
            <a:ext cx="91440" cy="9144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/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formula in action — Services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formula again. For services, you usually pay an hourly rate + parts.</a:t>
            </a:r>
            <a:endParaRPr lang="en-US" sz="1400" dirty="0"/>
          </a:p>
        </p:txBody>
      </p:sp>
      <p:pic>
        <p:nvPicPr>
          <p:cNvPr id="12" name="Image 0" descr="/sessions/optimistic-hopeful-sagan/mnt/outputs/costing_deck/illustrations/acre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0240"/>
            <a:ext cx="10515600" cy="37490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371600" y="585216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F96167"/>
          </a:solidFill>
          <a:ln w="2540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71600" y="585216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Heads-up: the $95/hr rate already bakes in the technician's tools, van, AND company profit.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21440" y="457200"/>
            <a:ext cx="164592" cy="164592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309360"/>
            <a:ext cx="146304" cy="146304"/>
          </a:xfrm>
          <a:prstGeom prst="ellipse">
            <a:avLst/>
          </a:prstGeom>
          <a:solidFill>
            <a:srgbClr val="4ECDC4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644652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3383280"/>
            <a:ext cx="91440" cy="9144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/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matters: visibility = savings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more you break a cost down, the more places you can find savings.</a:t>
            </a:r>
            <a:endParaRPr lang="en-US" sz="1400" dirty="0"/>
          </a:p>
        </p:txBody>
      </p:sp>
      <p:pic>
        <p:nvPicPr>
          <p:cNvPr id="12" name="Image 0" descr="/sessions/optimistic-hopeful-sagan/mnt/outputs/costing_deck/illustrations/pyra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9418320" cy="4114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59893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When you only know the PRICE, you can only argue "that's too much."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When you know the RATES, you can find exactly WHERE it's too much.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21440" y="457200"/>
            <a:ext cx="164592" cy="164592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309360"/>
            <a:ext cx="146304" cy="146304"/>
          </a:xfrm>
          <a:prstGeom prst="ellipse">
            <a:avLst/>
          </a:prstGeom>
          <a:solidFill>
            <a:srgbClr val="4ECDC4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644652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3383280"/>
            <a:ext cx="91440" cy="9144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/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PUTTING IT ALL TOGETHER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Benchmarking in action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suppliers offered to make the same part. Here's what we learned:</a:t>
            </a:r>
            <a:endParaRPr lang="en-US" sz="1400" dirty="0"/>
          </a:p>
        </p:txBody>
      </p:sp>
      <p:pic>
        <p:nvPicPr>
          <p:cNvPr id="12" name="Image 0" descr="/sessions/optimistic-hopeful-sagan/mnt/outputs/costing_deck/illustrations/benchmar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828800"/>
            <a:ext cx="9144000" cy="3657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5623560"/>
            <a:ext cx="10515600" cy="685800"/>
          </a:xfrm>
          <a:prstGeom prst="roundRect">
            <a:avLst>
              <a:gd name="adj" fmla="val 13333"/>
            </a:avLst>
          </a:prstGeom>
          <a:solidFill>
            <a:srgbClr val="F9E795"/>
          </a:solidFill>
          <a:ln w="2540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the breakdown we'd see "$5.20 vs $3.70." With it, we know which lever to pull — Process.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remember nothing else…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394960" cy="1920240"/>
          </a:xfrm>
          <a:prstGeom prst="roundRect">
            <a:avLst>
              <a:gd name="adj" fmla="val 7143"/>
            </a:avLst>
          </a:prstGeom>
          <a:solidFill>
            <a:srgbClr val="3F4E94"/>
          </a:solidFill>
          <a:ln w="254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011680" y="23774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cost has 3 parts
</a:t>
            </a:r>
            <a:r>
              <a:rPr lang="en-US" sz="1400" i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  +  Process  +  SG&amp;A &amp; Profit.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394960" cy="1920240"/>
          </a:xfrm>
          <a:prstGeom prst="roundRect">
            <a:avLst>
              <a:gd name="adj" fmla="val 7143"/>
            </a:avLst>
          </a:prstGeom>
          <a:solidFill>
            <a:srgbClr val="3F4E94"/>
          </a:solidFill>
          <a:ln w="254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9400" y="205740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7726680" y="23774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formula to rule them all
</a:t>
            </a:r>
            <a:r>
              <a:rPr lang="en-US" sz="1400" i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 =  Rate  ×  Usage.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5394960" cy="1920240"/>
          </a:xfrm>
          <a:prstGeom prst="roundRect">
            <a:avLst>
              <a:gd name="adj" fmla="val 7143"/>
            </a:avLst>
          </a:prstGeom>
          <a:solidFill>
            <a:srgbClr val="3F4E94"/>
          </a:solidFill>
          <a:ln w="254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2011680" y="45720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= in the product
</a:t>
            </a:r>
            <a:r>
              <a:rPr lang="en-US" sz="1400" i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Indirect = around the product.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355080" y="4114800"/>
            <a:ext cx="5394960" cy="1920240"/>
          </a:xfrm>
          <a:prstGeom prst="roundRect">
            <a:avLst>
              <a:gd name="adj" fmla="val 7143"/>
            </a:avLst>
          </a:prstGeom>
          <a:solidFill>
            <a:srgbClr val="3F4E94"/>
          </a:solidFill>
          <a:ln w="254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42519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7726680" y="45720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Breakdown saves money
</a:t>
            </a:r>
            <a:r>
              <a:rPr lang="en-US" sz="1400" i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detail = more places to negotiate.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21440" y="457200"/>
            <a:ext cx="164592" cy="164592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309360"/>
            <a:ext cx="146304" cy="146304"/>
          </a:xfrm>
          <a:prstGeom prst="ellipse">
            <a:avLst/>
          </a:prstGeom>
          <a:solidFill>
            <a:srgbClr val="4ECDC4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644652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3383280"/>
            <a:ext cx="91440" cy="9144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/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check — pick your answer</a:t>
            </a:r>
            <a:endParaRPr lang="en-US" sz="3600" dirty="0"/>
          </a:p>
        </p:txBody>
      </p:sp>
      <p:pic>
        <p:nvPicPr>
          <p:cNvPr id="11" name="Image 0" descr="/sessions/optimistic-hopeful-sagan/mnt/outputs/costing_deck/illustrations/quiz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57200"/>
            <a:ext cx="1554480" cy="1554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0080" y="1783080"/>
            <a:ext cx="9144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F254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8680" y="183794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The basic costing formula is…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2148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A) Cost = Rate / Usage    B) Cost = Rate × Usage    C) Cost = Rate + Usage    D) Cost = 2 × (Rate × Usage)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2651760"/>
            <a:ext cx="9144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F254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8680" y="270662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"$/Hour" is an example of a…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" y="3017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A) Usage    B) Profit    C) Rate    D) Discount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520440"/>
            <a:ext cx="9144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F254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68680" y="357530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The formula works for…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68680" y="3886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A) Only manufacturing    B) Only services    C) Only indirect purchases    D) All of the above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4389120"/>
            <a:ext cx="9144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F254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68680" y="444398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Which one is a DIRECT material?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68680" y="4754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A) A re-usable masking plug    B) The forklift fuel    C) Steel billet in a forging plant    D) The factory's wifi router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" y="5257800"/>
            <a:ext cx="9144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F254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68680" y="531266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SG&amp;A stands for…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68680" y="5623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A) Set Goal &amp; Adjust    B) Selling, General &amp; Administrative    C) Storage, Gas &amp; Audit    D) Standard Goods Accounting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0080" y="6217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F4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Flip to slide 18 for the answers.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21440" y="457200"/>
            <a:ext cx="164592" cy="164592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309360"/>
            <a:ext cx="146304" cy="146304"/>
          </a:xfrm>
          <a:prstGeom prst="ellipse">
            <a:avLst/>
          </a:prstGeom>
          <a:solidFill>
            <a:srgbClr val="4ECDC4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6446520"/>
            <a:ext cx="128016" cy="128016"/>
          </a:xfrm>
          <a:prstGeom prst="ellipse">
            <a:avLst/>
          </a:prstGeom>
          <a:solidFill>
            <a:srgbClr val="F9E795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3383280"/>
            <a:ext cx="91440" cy="91440"/>
          </a:xfrm>
          <a:prstGeom prst="ellipse">
            <a:avLst/>
          </a:prstGeom>
          <a:solidFill>
            <a:srgbClr val="F96167"/>
          </a:solidFill>
          <a:ln w="1524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/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2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Costing 101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FIVE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Answers &amp; you're done!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40080" y="1737360"/>
            <a:ext cx="566928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25400">
            <a:solidFill>
              <a:srgbClr val="1F254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1828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Cost = Rate × Usage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"$/Hour" is a RATE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5448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Works for ALL of the above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8680" y="4343400"/>
            <a:ext cx="502920" cy="50292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5448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Steel billet is DIRECT material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" y="4983480"/>
            <a:ext cx="502920" cy="50292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54480" y="5029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Selling, General &amp; Administrative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92240" y="1737360"/>
            <a:ext cx="5166360" cy="4297680"/>
          </a:xfrm>
          <a:prstGeom prst="roundRect">
            <a:avLst>
              <a:gd name="adj" fmla="val 3191"/>
            </a:avLst>
          </a:prstGeom>
          <a:solidFill>
            <a:srgbClr val="F96167"/>
          </a:solidFill>
          <a:ln w="25400">
            <a:solidFill>
              <a:srgbClr val="1F254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2084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now know costing.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72084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Seriously. You can read a vendor quote now.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2084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time you see a price, ask yourself: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329184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material cost?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process cost?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SG&amp;A + profit?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RATE is the highest, and why?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to supply chain thinking.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1469</Words>
  <Application>Microsoft Macintosh PowerPoint</Application>
  <PresentationFormat>Widescreen</PresentationFormat>
  <Paragraphs>209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Costing 101 — The Friendly Beginner's Guide</dc:title>
  <dc:subject>PptxGenJS Presentation</dc:subject>
  <dc:creator>Collaborative Supply Chains</dc:creator>
  <cp:lastModifiedBy>Rohit Dubey</cp:lastModifiedBy>
  <cp:revision>1</cp:revision>
  <dcterms:created xsi:type="dcterms:W3CDTF">2026-05-25T14:11:14Z</dcterms:created>
  <dcterms:modified xsi:type="dcterms:W3CDTF">2026-05-25T14:25:17Z</dcterms:modified>
</cp:coreProperties>
</file>